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Arial"/>
              </a:defRPr>
            </a:pPr>
            <a:r>
              <a:t>ACADEMIC PROGRESSION &amp; BACKLOG MANAGEMENT PLATFORM</a:t>
            </a:r>
          </a:p>
          <a:p>
            <a:pPr>
              <a:spcBef>
                <a:spcPts val="1400"/>
              </a:spcBef>
              <a:defRPr sz="5600" b="1">
                <a:solidFill>
                  <a:srgbClr val="FFFFFF"/>
                </a:solidFill>
                <a:latin typeface="Arial"/>
              </a:defRPr>
            </a:pPr>
            <a:r>
              <a:t>BackTrack</a:t>
            </a:r>
          </a:p>
          <a:p>
            <a:pPr>
              <a:spcBef>
                <a:spcPts val="1000"/>
              </a:spcBef>
              <a:defRPr sz="1800">
                <a:solidFill>
                  <a:srgbClr val="E2E8F0"/>
                </a:solidFill>
                <a:latin typeface="Arial"/>
              </a:defRPr>
            </a:pPr>
            <a:r>
              <a:t>Student backlog tracking, ordinance compliance, automated clearance and digital certificates in one place</a:t>
            </a:r>
          </a:p>
          <a:p>
            <a:pPr>
              <a:spcBef>
                <a:spcPts val="3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Solo Project Developer   |   Academic Major Project   |   Python &amp; React Full-Stack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77840"/>
            <a:ext cx="1999427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Log 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13827" y="5577840"/>
            <a:ext cx="1999427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Meet Mentor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6134" y="5577840"/>
            <a:ext cx="1999427" cy="5486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Remedial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78441" y="5577840"/>
            <a:ext cx="1999427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Repeat Exam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0748" y="5577840"/>
            <a:ext cx="1999427" cy="54864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Certified Clear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Challenges in Legacy University Systems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Backlog records are scattered across paper slips, departmental registers, and notice boards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Manual calculation of CBCS promotion rules causes errors in detecting detained students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Clearing an arrear requires weeks of physical sign-offs between teachers, HODs, and exam cell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Faculty mentors discover academic arrears too late, missing the window for remedial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49377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Our Solution: BackTrack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BackTrack unifies backlog registration, CBCS ordinance verification, faculty mentorship tracking, repeat exam processing, and tamper-proof PDF certification into one secure, responsive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3454298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Many Registers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4846320"/>
            <a:ext cx="3454298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One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4846320"/>
            <a:ext cx="3454298" cy="5486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Faster Clearances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Think about it: how do you audit 500 backlog cases by hand across 8 departments without errors?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About BackTrack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1  </a:t>
            </a:r>
            <a:r>
              <a:rPr sz="1400" b="1">
                <a:solidFill>
                  <a:srgbClr val="0F172A"/>
                </a:solidFill>
                <a:latin typeface="Arial"/>
              </a:rPr>
              <a:t>For Students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Inspect active backlogs, monitor CGPA impact, apply for re-examinations, track multi-stage progress, and download official clearance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2  </a:t>
            </a:r>
            <a:r>
              <a:rPr sz="1400" b="1">
                <a:solidFill>
                  <a:srgbClr val="0F172A"/>
                </a:solidFill>
                <a:latin typeface="Arial"/>
              </a:rPr>
              <a:t>For Faculty Advisors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Monitor enrolled students with backlogs, evaluate remedial assignments, conduct guidance sessions, and submit improved internal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3  </a:t>
            </a:r>
            <a:r>
              <a:rPr sz="1400" b="1">
                <a:solidFill>
                  <a:srgbClr val="0F172A"/>
                </a:solidFill>
                <a:latin typeface="Arial"/>
              </a:rPr>
              <a:t>Admin &amp; Exam Cell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Central command center for auditing clearance applications, enforcing CBCS promotion rules, and exporting official university clearance gazettes.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4  </a:t>
            </a:r>
            <a:r>
              <a:rPr sz="1400" b="1">
                <a:solidFill>
                  <a:srgbClr val="0F172A"/>
                </a:solidFill>
                <a:latin typeface="Arial"/>
              </a:rPr>
              <a:t>Real-Time Notifications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In-app alerts and activity tracking ensure students, faculty, and administrators remain aligned throughout the clearance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Result: an end-to-end institutional solution for tracking and resolving student academic backlogs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Key Features of BackTrack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1  </a:t>
            </a:r>
            <a:r>
              <a:rPr sz="1400" b="1">
                <a:solidFill>
                  <a:srgbClr val="0F172A"/>
                </a:solidFill>
                <a:latin typeface="Arial"/>
              </a:rPr>
              <a:t>Centralized Backlog Registry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Single source of truth tracking active, pending, and cleared backlog papers across semesters and academic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2  </a:t>
            </a:r>
            <a:r>
              <a:rPr sz="1400" b="1">
                <a:solidFill>
                  <a:srgbClr val="0F172A"/>
                </a:solidFill>
                <a:latin typeface="Arial"/>
              </a:rPr>
              <a:t>Multi-Role RBAC Portals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Secure, role-based dashboards tailored specifically for Students, Faculty Evaluators, and Examination Administrators.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3  </a:t>
            </a:r>
            <a:r>
              <a:rPr sz="1400" b="1">
                <a:solidFill>
                  <a:srgbClr val="0F172A"/>
                </a:solidFill>
                <a:latin typeface="Arial"/>
              </a:rPr>
              <a:t>Automated PDF Certificates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Instant generation of official, university-formatted Backlog Clearance Certificates using Python's ReportLab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4  </a:t>
            </a:r>
            <a:r>
              <a:rPr sz="1400" b="1">
                <a:solidFill>
                  <a:srgbClr val="0F172A"/>
                </a:solidFill>
                <a:latin typeface="Arial"/>
              </a:rPr>
              <a:t>CBCS Ordinance Rule Engine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Python business logic automatically checks maximum active backlogs, prerequisite dependencies, and grace mark allocations.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Core academic resolution workflow, from failure detection to certified clearance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Key Features of BackTrack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5  </a:t>
            </a:r>
            <a:r>
              <a:rPr sz="1400" b="1">
                <a:solidFill>
                  <a:srgbClr val="0F172A"/>
                </a:solidFill>
                <a:latin typeface="Arial"/>
              </a:rPr>
              <a:t>5-Stage Resolution Funnel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Tracks backlog status: 1. Logged -&gt; 2. Faculty Consult -&gt; 3. Remedial Tasks -&gt; 4. Repeat Exam -&gt; 5. Officially Cleared.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6  </a:t>
            </a:r>
            <a:r>
              <a:rPr sz="1400" b="1">
                <a:solidFill>
                  <a:srgbClr val="0F172A"/>
                </a:solidFill>
                <a:latin typeface="Arial"/>
              </a:rPr>
              <a:t>Responsive Multi-Tier Design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Frontend built with React 19, TailwindCSS, and Lucide icons; backend powered by high-throughput FastAPI and SQLAlchemy.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7  </a:t>
            </a:r>
            <a:r>
              <a:rPr sz="1400" b="1">
                <a:solidFill>
                  <a:srgbClr val="0F172A"/>
                </a:solidFill>
                <a:latin typeface="Arial"/>
              </a:rPr>
              <a:t>Gazette CSV / Excel Export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Uses Python Pandas to generate tabular university clearance ledgers and examination manifests for institutional controllers.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8  </a:t>
            </a:r>
            <a:r>
              <a:rPr sz="1400" b="1">
                <a:solidFill>
                  <a:srgbClr val="0F172A"/>
                </a:solidFill>
                <a:latin typeface="Arial"/>
              </a:rPr>
              <a:t>Interactive OpenAPI Swagger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Fully documented REST endpoints with live testing harness, schema definitions, and automated Pydantic data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Communication, compliance, and academic recovery in one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Feature Completion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01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Auth &amp; RBAC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02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Student Portal &amp; Arrears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03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Backlog Stepper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04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Academic Rule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05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Grace Mark 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889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06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Faculty Mentorship Desk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889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07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Remedial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7889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08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ReportLab PDF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09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Admin Master Audit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206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10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Gazette Data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11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Real-Time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206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12 · Completed ✓  </a:t>
            </a:r>
            <a:r>
              <a:rPr sz="1400" b="1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SQLite Relational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All 12 planned institutional features are fully implemented and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Python in BackTrack: Core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999427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FastAPI REST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827" y="1371600"/>
            <a:ext cx="1999427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Pydantic Schemas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6134" y="1371600"/>
            <a:ext cx="1999427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Python Services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441" y="1371600"/>
            <a:ext cx="1999427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SQLAlchemy 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0748" y="1371600"/>
            <a:ext cx="1999427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SQLite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Implementation  </a:t>
            </a:r>
            <a:r>
              <a:rPr sz="1400" b="1">
                <a:solidFill>
                  <a:srgbClr val="0F172A"/>
                </a:solidFill>
                <a:latin typeface="Arial"/>
              </a:rPr>
              <a:t>Modern Python 3.12 Backend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Uses asynchronous I/O, strict type hinting, and dependency injection to guarantee rapid execution and zero runtime type mismatch.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Backend Design  </a:t>
            </a:r>
            <a:r>
              <a:rPr sz="1400" b="1">
                <a:solidFill>
                  <a:srgbClr val="0F172A"/>
                </a:solidFill>
                <a:latin typeface="Arial"/>
              </a:rPr>
              <a:t>Modular Service Architecture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Located in backend/app/, decoupling API routing (api/v1/), business services (services/), and data models (models/).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Data &amp; Analytics  </a:t>
            </a:r>
            <a:r>
              <a:rPr sz="1400" b="1">
                <a:solidFill>
                  <a:srgbClr val="0F172A"/>
                </a:solidFill>
                <a:latin typeface="Arial"/>
              </a:rPr>
              <a:t>Pandas Tabular Processing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Integrates pandas for data wrangling, multi-table joins, and instantaneous clearance gazette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Document Synthesis  </a:t>
            </a:r>
            <a:r>
              <a:rPr sz="1400" b="1">
                <a:solidFill>
                  <a:srgbClr val="0F172A"/>
                </a:solidFill>
                <a:latin typeface="Arial"/>
              </a:rPr>
              <a:t>Binary PDF Streaming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Leverages reportlab to generate formal A4 clearance certificates directly in memory without browser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Python powers the core intelligence, business rules, and security of BackTrack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Python Feature 1: FastAPI REST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999427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HTTP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827" y="1371600"/>
            <a:ext cx="1999427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Uvicorn ASGI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6134" y="1371600"/>
            <a:ext cx="1999427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FastAPI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441" y="1371600"/>
            <a:ext cx="1999427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Pydantic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0748" y="1371600"/>
            <a:ext cx="1999427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JSON / PDF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High Throughput  </a:t>
            </a:r>
            <a:r>
              <a:rPr sz="1400" b="1">
                <a:solidFill>
                  <a:srgbClr val="0F172A"/>
                </a:solidFill>
                <a:latin typeface="Arial"/>
              </a:rPr>
              <a:t>Asynchronous Event Loop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FastAPI on Uvicorn handles concurrent requests asynchronously, delivering sub-15ms response times on local environments.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API Namespace  </a:t>
            </a:r>
            <a:r>
              <a:rPr sz="1400" b="1">
                <a:solidFill>
                  <a:srgbClr val="0F172A"/>
                </a:solidFill>
                <a:latin typeface="Arial"/>
              </a:rPr>
              <a:t>Clean V1 REST Routing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Mounted in backend/main.py via app.include_router(api_v1_router), organizing routes across /auth, /backlogs, /students, and /faculty.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Automated Docs  </a:t>
            </a:r>
            <a:r>
              <a:rPr sz="1400" b="1">
                <a:solidFill>
                  <a:srgbClr val="0F172A"/>
                </a:solidFill>
                <a:latin typeface="Arial"/>
              </a:rPr>
              <a:t>Interactive Swagger &amp; OpenAPI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FastAPI automatically exposes complete interactive Swagger UI at /docs and ReDoc at /redoc with schema definitions.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Data Validation  </a:t>
            </a:r>
            <a:r>
              <a:rPr sz="1400" b="1">
                <a:solidFill>
                  <a:srgbClr val="0F172A"/>
                </a:solidFill>
                <a:latin typeface="Arial"/>
              </a:rPr>
              <a:t>Pydantic Type Enforcement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Incoming JSON payloads are strictly validated against Pydantic models (schemas/backlog.py), preventing bad database writes.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FastAPI provides enterprise-grade asynchronous throughput with zero boilerplate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Python Feature 2: Academic Rule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999427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Marks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827" y="1371600"/>
            <a:ext cx="1999427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AcademicRuleEngine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6134" y="1371600"/>
            <a:ext cx="1999427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CBCS Ordinances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441" y="1371600"/>
            <a:ext cx="1999427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Detention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0748" y="1371600"/>
            <a:ext cx="1999427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Academic Standing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Detention Logic  </a:t>
            </a:r>
            <a:r>
              <a:rPr sz="1400" b="1">
                <a:solidFill>
                  <a:srgbClr val="0F172A"/>
                </a:solidFill>
                <a:latin typeface="Arial"/>
              </a:rPr>
              <a:t>Year-Back Ceiling Enforcement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Codified in app/services/rule_engine.py. Automatically marks standing as 'Detained (Year Back)' if active arrears exceed 4 backlogs.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Grace Marks  </a:t>
            </a:r>
            <a:r>
              <a:rPr sz="1400" b="1">
                <a:solidFill>
                  <a:srgbClr val="0F172A"/>
                </a:solidFill>
                <a:latin typeface="Arial"/>
              </a:rPr>
              <a:t>Borderline Failure Evaluation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Algorithmically evaluates borderline cases (within 3 marks of passing, max 5 per term), awarding grace marks according to university statutes.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Prerequisite Trees  </a:t>
            </a:r>
            <a:r>
              <a:rPr sz="1400" b="1">
                <a:solidFill>
                  <a:srgbClr val="0F172A"/>
                </a:solidFill>
                <a:latin typeface="Arial"/>
              </a:rPr>
              <a:t>Curriculum Dependency Checks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Ensures students clear foundational courses (e.g., Programming in C) before enrolling in advanced subsequent subjects (Data Structures).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UGC CBCS Rules  </a:t>
            </a:r>
            <a:r>
              <a:rPr sz="1400" b="1">
                <a:solidFill>
                  <a:srgbClr val="0F172A"/>
                </a:solidFill>
                <a:latin typeface="Arial"/>
              </a:rPr>
              <a:t>SGPA &amp; CGPA Computation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Implements Choice Based Credit System grade calculations, converting numeric marks into letter grades and credit point sums.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Automated university ordinance compliance with zero manual calculation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Python Feature 3: Programmatic PDF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999427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Clearance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827" y="1371600"/>
            <a:ext cx="1999427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ReportLab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6134" y="1371600"/>
            <a:ext cx="1999427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In-Memory BytesIO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441" y="1371600"/>
            <a:ext cx="1999427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Security Stamp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0748" y="1371600"/>
            <a:ext cx="1999427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Binary PDF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ReportLab Engine  </a:t>
            </a:r>
            <a:r>
              <a:rPr sz="1400" b="1">
                <a:solidFill>
                  <a:srgbClr val="0F172A"/>
                </a:solidFill>
                <a:latin typeface="Arial"/>
              </a:rPr>
              <a:t>Native Canvas Generation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Built in app/services/certificate_service.py using reportlab.pdfgen.canvas. Direct vector drawing ensures crisp printing at 300+ DPI.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Official Layout  </a:t>
            </a:r>
            <a:r>
              <a:rPr sz="1400" b="1">
                <a:solidFill>
                  <a:srgbClr val="0F172A"/>
                </a:solidFill>
                <a:latin typeface="Arial"/>
              </a:rPr>
              <a:t>Institutional Exam Stationery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Draws formal slate double borders, university header, candidate USN, course title, cleared subject codes, and exam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Zero Disk Overhead  </a:t>
            </a:r>
            <a:r>
              <a:rPr sz="1400" b="1">
                <a:solidFill>
                  <a:srgbClr val="0F172A"/>
                </a:solidFill>
                <a:latin typeface="Arial"/>
              </a:rPr>
              <a:t>In-Memory Stream Buffer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PDFs are compiled into an io.BytesIO stream and served via FastAPI's StreamingResponse with application/pdf MIME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Verification Digest  </a:t>
            </a:r>
            <a:r>
              <a:rPr sz="1400" b="1">
                <a:solidFill>
                  <a:srgbClr val="0F172A"/>
                </a:solidFill>
                <a:latin typeface="Arial"/>
              </a:rPr>
              <a:t>Cryptographic Authenticity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Embeds automated serial numbers and verification timestamps, allowing external third parties to verify certificate validity.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Instant, programmatic PDF generation matching official university examination stationery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Python Feature 4: Tabular Analytics &amp; Gazette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999427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Relational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827" y="1371600"/>
            <a:ext cx="1999427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Pandas DataFrame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6134" y="1371600"/>
            <a:ext cx="1999427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Cohort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441" y="1371600"/>
            <a:ext cx="1999427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Funnel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0748" y="1371600"/>
            <a:ext cx="1999427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Master CSV Gazette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Pandas Export  </a:t>
            </a:r>
            <a:r>
              <a:rPr sz="1400" b="1">
                <a:solidFill>
                  <a:srgbClr val="0F172A"/>
                </a:solidFill>
                <a:latin typeface="Arial"/>
              </a:rPr>
              <a:t>University Clearance Gazette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 app/services/export_service.py, executes multi-table relational joins across Students, Backlogs, and Subjects to export master CSV ledgers.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Resolution Funnel  </a:t>
            </a:r>
            <a:r>
              <a:rPr sz="1400" b="1">
                <a:solidFill>
                  <a:srgbClr val="0F172A"/>
                </a:solidFill>
                <a:latin typeface="Arial"/>
              </a:rPr>
              <a:t>Conversion Analytics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 analytics_service.py, tracks drop-offs across: Logged -&gt; Met Advisor -&gt; Assignments Done -&gt; Repeat Exam -&gt; Clearance Certified.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Cohort Segmentation  </a:t>
            </a:r>
            <a:r>
              <a:rPr sz="1400" b="1">
                <a:solidFill>
                  <a:srgbClr val="0F172A"/>
                </a:solidFill>
                <a:latin typeface="Arial"/>
              </a:rPr>
              <a:t>Academic Risk Tracking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Classifies student populations into Regular, At-Risk, and Backlog Candidates to help institutional deans allocate coaching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Department Trends  </a:t>
            </a:r>
            <a:r>
              <a:rPr sz="1400" b="1">
                <a:solidFill>
                  <a:srgbClr val="0F172A"/>
                </a:solidFill>
                <a:latin typeface="Arial"/>
              </a:rPr>
              <a:t>Failure Density Metrics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Computes pass-rate recovery velocity and identifies subject bottlenecks with abnormally high semester failure rates.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Enterprise data wrangling and gazette generation replacing hours of manual paperwork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Architecture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999427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React 19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827" y="1371600"/>
            <a:ext cx="1999427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FastAPI REST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6134" y="1371600"/>
            <a:ext cx="1999427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Python 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441" y="1371600"/>
            <a:ext cx="1999427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SQLAlchemy 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0748" y="1371600"/>
            <a:ext cx="1999427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SQLite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Presentation Tier  </a:t>
            </a:r>
            <a:r>
              <a:rPr sz="1400" b="1">
                <a:solidFill>
                  <a:srgbClr val="0F172A"/>
                </a:solidFill>
                <a:latin typeface="Arial"/>
              </a:rPr>
              <a:t>React 19 Single Page App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Interactive dashboards, Tailwind CSS glassmorphism, Recharts visualization, and real-time state synchronization via backlogStore.js.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Gateway Tier  </a:t>
            </a:r>
            <a:r>
              <a:rPr sz="1400" b="1">
                <a:solidFill>
                  <a:srgbClr val="0F172A"/>
                </a:solidFill>
                <a:latin typeface="Arial"/>
              </a:rPr>
              <a:t>FastAPI &amp; Uvicorn ASGI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Exposes /api/v1/ REST routes, enforces CORS headers, validates request bodies, and signs JWT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Business Logic Tier  </a:t>
            </a:r>
            <a:r>
              <a:rPr sz="1400" b="1">
                <a:solidFill>
                  <a:srgbClr val="0F172A"/>
                </a:solidFill>
                <a:latin typeface="Arial"/>
              </a:rPr>
              <a:t>Python Services &amp; Engine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Houses AcademicRuleEngine, ReportLab certificate synthesis, Pandas gazette exports, and audit logging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Data Persistence Tier  </a:t>
            </a:r>
            <a:r>
              <a:rPr sz="1400" b="1">
                <a:solidFill>
                  <a:srgbClr val="0F172A"/>
                </a:solidFill>
                <a:latin typeface="Arial"/>
              </a:rPr>
              <a:t>SQLite with SQLAlchemy 2.0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Eleven normalized relational tables with foreign keys, indexes, and transactional commits ensuring ACID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Robust 4-tier decoupled architecture separating presentation, logic, and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Vision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1  </a:t>
            </a:r>
            <a:r>
              <a:rPr sz="1400" b="1">
                <a:solidFill>
                  <a:srgbClr val="0F172A"/>
                </a:solidFill>
                <a:latin typeface="Arial"/>
              </a:rPr>
              <a:t>One Platform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Centralize backlog tracking across all university departments into a single source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2  </a:t>
            </a:r>
            <a:r>
              <a:rPr sz="1400" b="1">
                <a:solidFill>
                  <a:srgbClr val="0F172A"/>
                </a:solidFill>
                <a:latin typeface="Arial"/>
              </a:rPr>
              <a:t>Automated Clearances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Streamline the progression from backlog filing to verified certificate issuance.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3  </a:t>
            </a:r>
            <a:r>
              <a:rPr sz="1400" b="1">
                <a:solidFill>
                  <a:srgbClr val="0F172A"/>
                </a:solidFill>
                <a:latin typeface="Arial"/>
              </a:rPr>
              <a:t>Ordinance Compliance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Enforce CBCS credit policies, detention ceilings, and grace mark rules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4  </a:t>
            </a:r>
            <a:r>
              <a:rPr sz="1400" b="1">
                <a:solidFill>
                  <a:srgbClr val="0F172A"/>
                </a:solidFill>
                <a:latin typeface="Arial"/>
              </a:rPr>
              <a:t>Proactive Mentorship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Connect at-risk students with faculty mentors for structured remedial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5760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5  </a:t>
            </a:r>
            <a:r>
              <a:rPr sz="1400" b="1">
                <a:solidFill>
                  <a:srgbClr val="0F172A"/>
                </a:solidFill>
                <a:latin typeface="Arial"/>
              </a:rPr>
              <a:t>Digital Certificates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Issue tamper-evident PDF clearance certificates immediately upon admin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6  </a:t>
            </a:r>
            <a:r>
              <a:rPr sz="1400" b="1">
                <a:solidFill>
                  <a:srgbClr val="0F172A"/>
                </a:solidFill>
                <a:latin typeface="Arial"/>
              </a:rPr>
              <a:t>Zero Paperwork Lag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Eliminate physical paper slips and signatures between student, faculty, and exam cell.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Goal: replace manual paper clearance slips with an automated digital 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Target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Students with Arrears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View active backlogs, CGPA impact, apply for re-exams, and download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Academic Mentors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Review student cohorts, verify remedial assignments, and submit improved internal 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Department HODs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Analyze failure bottlenecks and assign faculty advisors for targeted remedial coaching.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Examination Controllers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Audit clearance requests, verify exam eligibility, and issue official sign-offs.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5760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University Deans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Access institutional KPIs, pass-rate trends, and departmental recovery statistics.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34134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Academic Audit Cells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Export university-wide clearance gazettes for board of examination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Built for university students, faculty advisors, and institutional exam controllers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Comparison with Existing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Traditional Notice Boards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Relies on physical notice boards and paper clearance slips
• Records frequently misplaced between departments
• Manual calculation of CBCS rules causes promotion errors
• Students lack real-time visibility into their clearance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Generic Campus ERPs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Designed for general fee collection and attendance
• Lack specialized backlog resolution funnel pipelines
• No codified rule engine for grace marks or detention
• Rigid architectures with steep learning curves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BackTrack Platform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Specialized 5-stage academic resolution workflow
• Python rule engine enforces university ordinances
• Generates programmatic PDF clearance certificates
• Role-based portals for Students, Faculty, and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gap: generic ERPs track enrollment; BackTrack actively drives backlog resolution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Technology Stack &amp;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5003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React 19 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9403" y="1371600"/>
            <a:ext cx="2545003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TailwindCSS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371600"/>
            <a:ext cx="2545003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FastAPI + Uvicorn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171" y="1371600"/>
            <a:ext cx="2545003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SQLAlchemy + 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Frontend Stack  </a:t>
            </a:r>
            <a:r>
              <a:rPr sz="1400" b="1">
                <a:solidFill>
                  <a:srgbClr val="0F172A"/>
                </a:solidFill>
                <a:latin typeface="Arial"/>
              </a:rPr>
              <a:t>Modern Reactive SPA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React 19, Vite bundler, Tailwind CSS for clean layout, Lucide React icons, and Recharts for interactive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Backend Stack  </a:t>
            </a:r>
            <a:r>
              <a:rPr sz="1400" b="1">
                <a:solidFill>
                  <a:srgbClr val="0F172A"/>
                </a:solidFill>
                <a:latin typeface="Arial"/>
              </a:rPr>
              <a:t>High-Performance Python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Python 3.12, FastAPI, Uvicorn ASGI server, Pydantic data validation, PyJWT, and bcrypt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Data &amp; Documents  </a:t>
            </a:r>
            <a:r>
              <a:rPr sz="1400" b="1">
                <a:solidFill>
                  <a:srgbClr val="0F172A"/>
                </a:solidFill>
                <a:latin typeface="Arial"/>
              </a:rPr>
              <a:t>Persistence &amp; PDF Engine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SQLite 3 with SQLAlchemy 2.0 ORM; ReportLab for instant binary PDF clearance certificate synthesis.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1206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Testing &amp; QA  </a:t>
            </a:r>
            <a:r>
              <a:rPr sz="1400" b="1">
                <a:solidFill>
                  <a:srgbClr val="0F172A"/>
                </a:solidFill>
                <a:latin typeface="Arial"/>
              </a:rPr>
              <a:t>Comprehensive Verification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Unit tested rule engine boundaries, verified REST HTTP status codes, and validated responsive UI layouts.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Modern, responsive and interactive from client browser to relational backend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Hardware &amp; 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Hardware Specifications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Processor: Dual-Core 2.0 GHz (Min) / Quad-Core i5/Ryzen 5 (Rec)
• RAM: 4 GB DDR4 (Min) / 8 GB or 16 GB (Recommended)
• Storage: 2 GB free disk space (10 GB NVMe SSD recommended)
• Display: 1280x720 HD (1920x1080 Full HD recommended)
• Network: Standard Ethernet or 2.4/5 GHz Wi-Fi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Software Environment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Operating System: Windows 10/11, macOS, or Ubuntu Linux 22.04+
• Python Runtime: Python 3.10.x to 3.12.x (64-bit)
• Node.js Environment: Node.js v18.x or v20.x (LTS) &amp; npm 10+
• Database Engine: SQLite 3.x (PostgreSQL ready)
• Web Browser: Google Chrome 110+, Firefox 110+, Microsoft 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Lightweight and cross-platform, runnable on standard laptops or cloud instances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Timeline &amp;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STEP 1  </a:t>
            </a:r>
            <a:r>
              <a:rPr sz="1400" b="1">
                <a:solidFill>
                  <a:srgbClr val="0F172A"/>
                </a:solidFill>
                <a:latin typeface="Arial"/>
              </a:rPr>
              <a:t>Requirement Analysis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Identify backlog issues
• Study CBCS ordinances
• Define student/faculty roles
• Draft database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55448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STEP 2  </a:t>
            </a:r>
            <a:r>
              <a:rPr sz="1400" b="1">
                <a:solidFill>
                  <a:srgbClr val="0F172A"/>
                </a:solidFill>
                <a:latin typeface="Arial"/>
              </a:rPr>
              <a:t>Frontend Development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Landing page UI
• Student &amp; Faculty desks
• Admin command center
• Responsive layout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55448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STEP 3  </a:t>
            </a:r>
            <a:r>
              <a:rPr sz="1400" b="1">
                <a:solidFill>
                  <a:srgbClr val="0F172A"/>
                </a:solidFill>
                <a:latin typeface="Arial"/>
              </a:rPr>
              <a:t>Backend &amp; Database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FastAPI REST routes
• SQLAlchemy models
• JWT auth &amp; bcrypt
• SQLite persistence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155448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STEP 4  </a:t>
            </a:r>
            <a:r>
              <a:rPr sz="1400" b="1">
                <a:solidFill>
                  <a:srgbClr val="0F172A"/>
                </a:solidFill>
                <a:latin typeface="Arial"/>
              </a:rPr>
              <a:t>Rule Engine &amp; PDF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CBCS detention logic
• Grace marks algorithm
• ReportLab PDF engine
• Gazette CSV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55448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STEP 5  </a:t>
            </a:r>
            <a:r>
              <a:rPr sz="1400" b="1">
                <a:solidFill>
                  <a:srgbClr val="0F172A"/>
                </a:solidFill>
                <a:latin typeface="Arial"/>
              </a:rPr>
              <a:t>Testing &amp; Deploy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Rule boundary tests
• API endpoint testing
• Live screenshots
• Project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From requirement analysis to full-stack verified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Task Completion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Project Deliverables &amp; Milestones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• Phase 1: Authentication &amp; Role-Based Access Control — [✓ Completed 100%]
  Secure JWT authentication with salted bcrypt password hashing and dedicated portals.
• Phase 2: Python Academic Rule Engine (CBCS Ordinances) — [✓ Completed 100%]
  Automated 4-backlog detention calculation, grace mark awards, and prerequisite checks.
• Phase 3: ReportLab PDF Certificate &amp; Gazette Export — [✓ Completed 100%]
  Programmatic generation of A4 clearance certificates and pandas-powered CSV ledgers.
• Phase 4: Responsive UI &amp; 5-Stage Resolution Stepper — [✓ Completed 100%]
  End-to-end integration across Student, Faculty, and Admin interfaces with real-time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All 4 core development milestones are 100% complete and verified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Live 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actual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1430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Student Portal: Active arrears tracker, CGPA, and course picker</a:t>
            </a:r>
          </a:p>
        </p:txBody>
      </p:sp>
      <p:pic>
        <p:nvPicPr>
          <p:cNvPr id="8" name="Picture 7" descr="actual_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1430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30352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Admin Portal: Academic session KPIs, enrolled degrees, and audit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Live screenshots captured directly from the running BackTrack application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Future Scope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94A3B8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1  </a:t>
            </a:r>
            <a:r>
              <a:rPr sz="1400" b="1">
                <a:solidFill>
                  <a:srgbClr val="0F172A"/>
                </a:solidFill>
                <a:latin typeface="Arial"/>
              </a:rPr>
              <a:t>Machine Learning Early-Warning Model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Integrate scikit-learn models to forecast student detention risks weeks before semester examinations, enabling timely remedial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2  </a:t>
            </a:r>
            <a:r>
              <a:rPr sz="1400" b="1">
                <a:solidFill>
                  <a:srgbClr val="0F172A"/>
                </a:solidFill>
                <a:latin typeface="Arial"/>
              </a:rPr>
              <a:t>National Academic Depository (NAD)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Direct API sync with India's Academic Bank of Credits (ABC) / DigiLocker to push cleared credits directly into national databases.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3  </a:t>
            </a:r>
            <a:r>
              <a:rPr sz="1400" b="1">
                <a:solidFill>
                  <a:srgbClr val="0F172A"/>
                </a:solidFill>
                <a:latin typeface="Arial"/>
              </a:rPr>
              <a:t>Cross-Platform Mobile Application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Develop companion React Native / Flutter apps for iOS and Android to send push notifications regarding repeat exams and clearance approvals.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/>
            <a:r>
              <a:rPr sz="1400" b="1">
                <a:solidFill>
                  <a:srgbClr val="2563EB"/>
                </a:solidFill>
                <a:latin typeface="Arial"/>
              </a:rPr>
              <a:t>4  </a:t>
            </a:r>
            <a:r>
              <a:rPr sz="1400" b="1">
                <a:solidFill>
                  <a:srgbClr val="0F172A"/>
                </a:solidFill>
                <a:latin typeface="Arial"/>
              </a:rPr>
              <a:t>Blockchain-Anchored Credentials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475569"/>
                </a:solidFill>
                <a:latin typeface="Arial"/>
              </a:rPr>
              <a:t>Issue cryptographic certificate hashes on an immutable distributed ledger for instant, tamper-proof verification by employers.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Extensible roadmap designed for institutional scaling and national ERP integration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1400"/>
              </a:spcBef>
              <a:defRPr sz="5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Arial"/>
              </a:defRPr>
            </a:pPr>
            <a:r>
              <a:t>BackTrack delivers all 12 planned academic features, automates CBCS ordinance compliance, and replaces disconnected paper slips with a unified Python-powered digital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2545003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9403" y="5303520"/>
            <a:ext cx="2545003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Faculty Mentorship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5303520"/>
            <a:ext cx="2545003" cy="5486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Exam 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171" y="5303520"/>
            <a:ext cx="2545003" cy="5486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